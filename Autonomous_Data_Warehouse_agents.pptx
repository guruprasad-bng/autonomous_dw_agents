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9" r:id="rId2"/>
    <p:sldId id="256" r:id="rId3"/>
    <p:sldId id="263" r:id="rId4"/>
    <p:sldId id="264" r:id="rId5"/>
    <p:sldId id="265" r:id="rId6"/>
    <p:sldId id="266" r:id="rId7"/>
    <p:sldId id="267" r:id="rId8"/>
    <p:sldId id="262" r:id="rId9"/>
    <p:sldId id="269"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10/23/2026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10/23/2026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Autonomous Data Warehouse agents</a:t>
            </a:r>
            <a:endParaRPr lang="en-IN" dirty="0"/>
          </a:p>
        </p:txBody>
      </p:sp>
    </p:spTree>
    <p:extLst>
      <p:ext uri="{BB962C8B-B14F-4D97-AF65-F5344CB8AC3E}">
        <p14:creationId xmlns:p14="http://schemas.microsoft.com/office/powerpoint/2010/main" val="5026318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7355" y="2557669"/>
            <a:ext cx="8825658" cy="3690715"/>
          </a:xfrm>
        </p:spPr>
        <p:txBody>
          <a:bodyPr/>
          <a:lstStyle/>
          <a:p>
            <a:r>
              <a:rPr lang="en-US" sz="1800" dirty="0"/>
              <a:t>Enterprises manage large volumes of data distributed across cloud platforms, databases, and business applications. Although enterprise data catalogs provide metadata management, data discovery, and lineage capabilities, several challenges remain</a:t>
            </a:r>
            <a:r>
              <a:rPr lang="en-US" sz="1800" dirty="0" smtClean="0"/>
              <a:t>:</a:t>
            </a:r>
            <a:br>
              <a:rPr lang="en-US" sz="1800" dirty="0" smtClean="0"/>
            </a:br>
            <a:r>
              <a:rPr lang="en-US" sz="1800" dirty="0"/>
              <a:t/>
            </a:r>
            <a:br>
              <a:rPr lang="en-US" sz="1800" dirty="0"/>
            </a:br>
            <a:r>
              <a:rPr lang="en-US" sz="1800" dirty="0"/>
              <a:t>Data discovery: Finding relevant, trusted data products requires knowledge of technical metadata and business terminology</a:t>
            </a:r>
            <a:r>
              <a:rPr lang="en-US" sz="1800" dirty="0" smtClean="0"/>
              <a:t>.</a:t>
            </a:r>
            <a:br>
              <a:rPr lang="en-US" sz="1800" dirty="0" smtClean="0"/>
            </a:br>
            <a:r>
              <a:rPr lang="en-US" sz="1800" dirty="0"/>
              <a:t/>
            </a:r>
            <a:br>
              <a:rPr lang="en-US" sz="1800" dirty="0"/>
            </a:br>
            <a:r>
              <a:rPr lang="en-US" sz="1800" dirty="0"/>
              <a:t>Impact analysis: Understanding the downstream consequences of schema changes can be time-consuming</a:t>
            </a:r>
            <a:r>
              <a:rPr lang="en-US" sz="1800" dirty="0" smtClean="0"/>
              <a:t>.</a:t>
            </a:r>
            <a:br>
              <a:rPr lang="en-US" sz="1800" dirty="0" smtClean="0"/>
            </a:br>
            <a:r>
              <a:rPr lang="en-US" sz="1800" dirty="0"/>
              <a:t/>
            </a:r>
            <a:br>
              <a:rPr lang="en-US" sz="1800" dirty="0"/>
            </a:br>
            <a:r>
              <a:rPr lang="en-US" sz="1800" dirty="0"/>
              <a:t>Schema drift: Changes between registered and incoming schemas require identification, assessment, and governance approval</a:t>
            </a:r>
            <a:r>
              <a:rPr lang="en-US" sz="1800" dirty="0" smtClean="0"/>
              <a:t>.</a:t>
            </a:r>
            <a:br>
              <a:rPr lang="en-US" sz="1800" dirty="0" smtClean="0"/>
            </a:br>
            <a:r>
              <a:rPr lang="en-US" sz="1800" dirty="0"/>
              <a:t/>
            </a:r>
            <a:br>
              <a:rPr lang="en-US" sz="1800" dirty="0"/>
            </a:br>
            <a:r>
              <a:rPr lang="en-US" sz="1800" dirty="0"/>
              <a:t>Disconnected workflows: Users often need to perform these activities separately and manually combine the results.</a:t>
            </a:r>
            <a:br>
              <a:rPr lang="en-US" sz="1800" dirty="0"/>
            </a:br>
            <a:endParaRPr lang="en-IN" sz="1800" dirty="0"/>
          </a:p>
        </p:txBody>
      </p:sp>
      <p:sp>
        <p:nvSpPr>
          <p:cNvPr id="6" name="Title 1"/>
          <p:cNvSpPr txBox="1">
            <a:spLocks/>
          </p:cNvSpPr>
          <p:nvPr/>
        </p:nvSpPr>
        <p:spPr>
          <a:xfrm>
            <a:off x="1307355" y="460513"/>
            <a:ext cx="8825658" cy="92433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t>Problem Statement</a:t>
            </a:r>
            <a:endParaRPr lang="en-IN" sz="2400" b="1" dirty="0"/>
          </a:p>
        </p:txBody>
      </p:sp>
    </p:spTree>
    <p:extLst>
      <p:ext uri="{BB962C8B-B14F-4D97-AF65-F5344CB8AC3E}">
        <p14:creationId xmlns:p14="http://schemas.microsoft.com/office/powerpoint/2010/main" val="16861369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7355" y="1272209"/>
            <a:ext cx="8825658" cy="1500802"/>
          </a:xfrm>
        </p:spPr>
        <p:txBody>
          <a:bodyPr/>
          <a:lstStyle/>
          <a:p>
            <a:r>
              <a:rPr lang="en-US" sz="2400" b="1" dirty="0"/>
              <a:t>Solution</a:t>
            </a:r>
            <a:r>
              <a:rPr lang="en-US" sz="1800" b="1" dirty="0"/>
              <a:t> </a:t>
            </a:r>
            <a:r>
              <a:rPr lang="en-US" sz="1800" b="1" dirty="0" smtClean="0"/>
              <a:t> </a:t>
            </a:r>
            <a:br>
              <a:rPr lang="en-US" sz="1800" b="1" dirty="0" smtClean="0"/>
            </a:br>
            <a:r>
              <a:rPr lang="en-US" sz="1800" b="1" dirty="0" smtClean="0"/>
              <a:t/>
            </a:r>
            <a:br>
              <a:rPr lang="en-US" sz="1800" b="1" dirty="0" smtClean="0"/>
            </a:br>
            <a:r>
              <a:rPr lang="en-US" sz="1800" dirty="0" smtClean="0"/>
              <a:t>Build </a:t>
            </a:r>
            <a:r>
              <a:rPr lang="en-US" sz="1800" dirty="0"/>
              <a:t>an intelligent, agentic metadata assistant that automates these workflows, enables collaboration between specialized AI agents, and maintains human control over catalog modifications.</a:t>
            </a:r>
            <a:endParaRPr lang="en-IN" sz="1800" dirty="0"/>
          </a:p>
        </p:txBody>
      </p:sp>
      <p:sp>
        <p:nvSpPr>
          <p:cNvPr id="4" name="Title 1"/>
          <p:cNvSpPr txBox="1">
            <a:spLocks/>
          </p:cNvSpPr>
          <p:nvPr/>
        </p:nvSpPr>
        <p:spPr>
          <a:xfrm>
            <a:off x="1307355" y="3445565"/>
            <a:ext cx="8825658" cy="2531172"/>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t>Benefit</a:t>
            </a:r>
            <a:r>
              <a:rPr lang="en-US" sz="1800" b="1" dirty="0"/>
              <a:t> </a:t>
            </a:r>
            <a:endParaRPr lang="en-US" sz="1800" b="1" dirty="0" smtClean="0"/>
          </a:p>
          <a:p>
            <a:endParaRPr lang="en-US" sz="1800" b="1" dirty="0"/>
          </a:p>
          <a:p>
            <a:r>
              <a:rPr lang="en-US" sz="1800" dirty="0" smtClean="0"/>
              <a:t>Build an intelligent, agentic metadata assistant that automates these workflows, enables collaboration between specialized AI agents, and maintains human control over catalog modifications.</a:t>
            </a:r>
          </a:p>
          <a:p>
            <a:endParaRPr lang="en-US" sz="1800" dirty="0"/>
          </a:p>
          <a:p>
            <a:r>
              <a:rPr lang="en-US" sz="1800" dirty="0"/>
              <a:t>Potential benefits include reduced manual analysis, faster identification of relevant data products, improved change-impact visibility, and stronger governance through human approval.</a:t>
            </a:r>
            <a:endParaRPr lang="en-IN" sz="1800" dirty="0"/>
          </a:p>
        </p:txBody>
      </p:sp>
    </p:spTree>
    <p:extLst>
      <p:ext uri="{BB962C8B-B14F-4D97-AF65-F5344CB8AC3E}">
        <p14:creationId xmlns:p14="http://schemas.microsoft.com/office/powerpoint/2010/main" val="30919584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7355" y="1249018"/>
            <a:ext cx="8825658" cy="1192696"/>
          </a:xfrm>
        </p:spPr>
        <p:txBody>
          <a:bodyPr/>
          <a:lstStyle/>
          <a:p>
            <a:r>
              <a:rPr lang="en-US" sz="1800" dirty="0"/>
              <a:t>The solution demonstrates how AI agents can augment existing enterprise catalogs such as </a:t>
            </a:r>
            <a:r>
              <a:rPr lang="en-US" sz="1800" dirty="0" err="1"/>
              <a:t>Informatica</a:t>
            </a:r>
            <a:r>
              <a:rPr lang="en-US" sz="1800" dirty="0"/>
              <a:t> EDC or Google Cloud's metadata catalog capabilities, rather than replace them</a:t>
            </a:r>
            <a:r>
              <a:rPr lang="en-US" sz="1800" dirty="0" smtClean="0"/>
              <a:t>.</a:t>
            </a:r>
            <a:r>
              <a:rPr lang="en-IN" sz="1800" dirty="0"/>
              <a:t> </a:t>
            </a:r>
            <a:r>
              <a:rPr lang="en-IN" sz="1800" dirty="0" smtClean="0"/>
              <a:t/>
            </a:r>
            <a:br>
              <a:rPr lang="en-IN" sz="1800" dirty="0" smtClean="0"/>
            </a:br>
            <a:r>
              <a:rPr lang="en-IN" sz="1800" dirty="0" smtClean="0"/>
              <a:t/>
            </a:r>
            <a:br>
              <a:rPr lang="en-IN" sz="1800" dirty="0" smtClean="0"/>
            </a:br>
            <a:r>
              <a:rPr lang="en-IN" sz="1800" dirty="0" smtClean="0"/>
              <a:t>Tech stack: </a:t>
            </a:r>
            <a:r>
              <a:rPr lang="en-IN" sz="1800" dirty="0" err="1" smtClean="0"/>
              <a:t>LangGraph</a:t>
            </a:r>
            <a:r>
              <a:rPr lang="en-IN" sz="1800" dirty="0"/>
              <a:t>, MCP, </a:t>
            </a:r>
            <a:r>
              <a:rPr lang="en-IN" sz="1800" dirty="0" err="1"/>
              <a:t>ChromaDB</a:t>
            </a:r>
            <a:endParaRPr lang="en-IN" sz="1800" dirty="0"/>
          </a:p>
        </p:txBody>
      </p:sp>
      <p:sp>
        <p:nvSpPr>
          <p:cNvPr id="6" name="Title 1"/>
          <p:cNvSpPr txBox="1">
            <a:spLocks/>
          </p:cNvSpPr>
          <p:nvPr/>
        </p:nvSpPr>
        <p:spPr>
          <a:xfrm>
            <a:off x="1307355" y="460513"/>
            <a:ext cx="8825658" cy="49032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t>Implementation</a:t>
            </a:r>
            <a:endParaRPr lang="en-IN" sz="2400" b="1" dirty="0"/>
          </a:p>
        </p:txBody>
      </p:sp>
      <p:sp>
        <p:nvSpPr>
          <p:cNvPr id="5" name="Title 1"/>
          <p:cNvSpPr txBox="1">
            <a:spLocks/>
          </p:cNvSpPr>
          <p:nvPr/>
        </p:nvSpPr>
        <p:spPr>
          <a:xfrm>
            <a:off x="1307355" y="2797866"/>
            <a:ext cx="8825658" cy="470450"/>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smtClean="0"/>
              <a:t>Technology Architecture</a:t>
            </a:r>
            <a:endParaRPr lang="en-IN" sz="2400" b="1" dirty="0"/>
          </a:p>
        </p:txBody>
      </p:sp>
      <p:pic>
        <p:nvPicPr>
          <p:cNvPr id="3" name="Picture 2"/>
          <p:cNvPicPr>
            <a:picLocks noChangeAspect="1"/>
          </p:cNvPicPr>
          <p:nvPr/>
        </p:nvPicPr>
        <p:blipFill>
          <a:blip r:embed="rId2"/>
          <a:stretch>
            <a:fillRect/>
          </a:stretch>
        </p:blipFill>
        <p:spPr>
          <a:xfrm>
            <a:off x="1419449" y="3326299"/>
            <a:ext cx="5034360" cy="3419058"/>
          </a:xfrm>
          <a:prstGeom prst="rect">
            <a:avLst/>
          </a:prstGeom>
        </p:spPr>
      </p:pic>
    </p:spTree>
    <p:extLst>
      <p:ext uri="{BB962C8B-B14F-4D97-AF65-F5344CB8AC3E}">
        <p14:creationId xmlns:p14="http://schemas.microsoft.com/office/powerpoint/2010/main" val="33557225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8572" y="1272209"/>
            <a:ext cx="8825658" cy="3631096"/>
          </a:xfrm>
        </p:spPr>
        <p:txBody>
          <a:bodyPr/>
          <a:lstStyle/>
          <a:p>
            <a:r>
              <a:rPr lang="en-US" sz="2400" b="1" dirty="0" smtClean="0"/>
              <a:t>Agent Orchestration</a:t>
            </a:r>
            <a:r>
              <a:rPr lang="en-US" sz="1800" b="1" dirty="0" smtClean="0"/>
              <a:t>  </a:t>
            </a:r>
            <a:br>
              <a:rPr lang="en-US" sz="1800" b="1" dirty="0" smtClean="0"/>
            </a:br>
            <a:r>
              <a:rPr lang="en-US" sz="1800" b="1" dirty="0" smtClean="0"/>
              <a:t/>
            </a:r>
            <a:br>
              <a:rPr lang="en-US" sz="1800" b="1" dirty="0" smtClean="0"/>
            </a:br>
            <a:r>
              <a:rPr lang="en-US" sz="1800" dirty="0"/>
              <a:t>Agents do not communicate directly over a messaging protocol. Instead, the Coordinator passes their findings through </a:t>
            </a:r>
            <a:r>
              <a:rPr lang="en-US" sz="1800" dirty="0" err="1"/>
              <a:t>LangGraph's</a:t>
            </a:r>
            <a:r>
              <a:rPr lang="en-US" sz="1800" dirty="0"/>
              <a:t> shared execution state. The output of one agent becomes contextual input to the next.</a:t>
            </a:r>
            <a:br>
              <a:rPr lang="en-US" sz="1800" dirty="0"/>
            </a:br>
            <a:r>
              <a:rPr lang="en-US" sz="1800" dirty="0"/>
              <a:t>The </a:t>
            </a:r>
            <a:r>
              <a:rPr lang="en-US" sz="1800" dirty="0" err="1"/>
              <a:t>Streamlit</a:t>
            </a:r>
            <a:r>
              <a:rPr lang="en-US" sz="1800" dirty="0"/>
              <a:t> interface displays the execution plan, agent handoffs, MCP tool calls, and execution times</a:t>
            </a:r>
            <a:r>
              <a:rPr lang="en-US" sz="1800" dirty="0" smtClean="0"/>
              <a:t>.</a:t>
            </a:r>
            <a:br>
              <a:rPr lang="en-US" sz="1800" dirty="0" smtClean="0"/>
            </a:br>
            <a:r>
              <a:rPr lang="en-US" sz="1800" dirty="0"/>
              <a:t/>
            </a:r>
            <a:br>
              <a:rPr lang="en-US" sz="1800" dirty="0"/>
            </a:br>
            <a:r>
              <a:rPr lang="en-US" sz="1800" dirty="0"/>
              <a:t>Architectural distinction: The Coordinator uses deterministic keyword-based routing, while specialist agents use LLM-powered reasoning. This provides predictable orchestration and an auditable handoff sequence.</a:t>
            </a:r>
            <a:br>
              <a:rPr lang="en-US" sz="1800" dirty="0"/>
            </a:br>
            <a:endParaRPr lang="en-IN" sz="1800" dirty="0"/>
          </a:p>
        </p:txBody>
      </p:sp>
    </p:spTree>
    <p:extLst>
      <p:ext uri="{BB962C8B-B14F-4D97-AF65-F5344CB8AC3E}">
        <p14:creationId xmlns:p14="http://schemas.microsoft.com/office/powerpoint/2010/main" val="40533107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0851" y="-92765"/>
            <a:ext cx="8825658" cy="4678017"/>
          </a:xfrm>
        </p:spPr>
        <p:txBody>
          <a:bodyPr/>
          <a:lstStyle/>
          <a:p>
            <a:r>
              <a:rPr lang="en-US" sz="2400" b="1" dirty="0" smtClean="0"/>
              <a:t>Memory Management</a:t>
            </a:r>
            <a:r>
              <a:rPr lang="en-US" sz="1800" b="1" dirty="0" smtClean="0"/>
              <a:t>  </a:t>
            </a:r>
            <a:br>
              <a:rPr lang="en-US" sz="1800" b="1" dirty="0" smtClean="0"/>
            </a:br>
            <a:r>
              <a:rPr lang="en-US" sz="1800" b="1" dirty="0" smtClean="0"/>
              <a:t/>
            </a:r>
            <a:br>
              <a:rPr lang="en-US" sz="1800" b="1" dirty="0" smtClean="0"/>
            </a:br>
            <a:r>
              <a:rPr lang="en-US" sz="1800" dirty="0"/>
              <a:t>Our implementation primarily uses short-term conversational memory and workflow-scoped shared </a:t>
            </a:r>
            <a:r>
              <a:rPr lang="en-US" sz="1800" dirty="0" smtClean="0"/>
              <a:t>state</a:t>
            </a:r>
            <a:br>
              <a:rPr lang="en-US" sz="1800" dirty="0" smtClean="0"/>
            </a:br>
            <a:r>
              <a:rPr lang="en-US" sz="1800" dirty="0"/>
              <a:t/>
            </a:r>
            <a:br>
              <a:rPr lang="en-US" sz="1800" dirty="0"/>
            </a:br>
            <a:r>
              <a:rPr lang="en-IN" sz="1800" dirty="0"/>
              <a:t>Short-term </a:t>
            </a:r>
            <a:r>
              <a:rPr lang="en-IN" sz="1800" dirty="0" smtClean="0"/>
              <a:t>memory </a:t>
            </a:r>
            <a:r>
              <a:rPr lang="en-IN" sz="1800" dirty="0"/>
              <a:t>- </a:t>
            </a:r>
            <a:r>
              <a:rPr lang="en-IN" sz="1800" dirty="0" err="1"/>
              <a:t>LangGraph</a:t>
            </a:r>
            <a:r>
              <a:rPr lang="en-IN" sz="1800" dirty="0"/>
              <a:t> </a:t>
            </a:r>
            <a:r>
              <a:rPr lang="en-IN" sz="1800" dirty="0" err="1" smtClean="0"/>
              <a:t>InMemorySaver</a:t>
            </a:r>
            <a:r>
              <a:rPr lang="en-IN" sz="1800" dirty="0" smtClean="0"/>
              <a:t> - </a:t>
            </a:r>
            <a:r>
              <a:rPr lang="en-US" sz="1800" dirty="0"/>
              <a:t>Maintains conversational context for each specialist </a:t>
            </a:r>
            <a:r>
              <a:rPr lang="en-US" sz="1800" dirty="0" smtClean="0"/>
              <a:t>agent</a:t>
            </a:r>
            <a:br>
              <a:rPr lang="en-US" sz="1800" dirty="0" smtClean="0"/>
            </a:br>
            <a:r>
              <a:rPr lang="en-US" sz="1800" dirty="0"/>
              <a:t/>
            </a:r>
            <a:br>
              <a:rPr lang="en-US" sz="1800" dirty="0"/>
            </a:br>
            <a:r>
              <a:rPr lang="en-IN" sz="1800" dirty="0"/>
              <a:t>Shared workflow state - </a:t>
            </a:r>
            <a:r>
              <a:rPr lang="en-IN" sz="1800" dirty="0" err="1"/>
              <a:t>LangGraph</a:t>
            </a:r>
            <a:r>
              <a:rPr lang="en-IN" sz="1800" dirty="0"/>
              <a:t> </a:t>
            </a:r>
            <a:r>
              <a:rPr lang="en-IN" sz="1800" dirty="0" err="1" smtClean="0"/>
              <a:t>StateGraph</a:t>
            </a:r>
            <a:r>
              <a:rPr lang="en-IN" sz="1800" dirty="0" smtClean="0"/>
              <a:t> - </a:t>
            </a:r>
            <a:r>
              <a:rPr lang="en-US" sz="1800" dirty="0"/>
              <a:t>Transfers findings between agents during </a:t>
            </a:r>
            <a:r>
              <a:rPr lang="en-US" sz="1800" dirty="0" smtClean="0"/>
              <a:t>execution</a:t>
            </a:r>
            <a:br>
              <a:rPr lang="en-US" sz="1800" dirty="0" smtClean="0"/>
            </a:br>
            <a:r>
              <a:rPr lang="en-US" sz="1800" dirty="0"/>
              <a:t/>
            </a:r>
            <a:br>
              <a:rPr lang="en-US" sz="1800" dirty="0"/>
            </a:br>
            <a:r>
              <a:rPr lang="en-US" sz="1800" dirty="0"/>
              <a:t>Persistent user preferences and past decisions are not stored</a:t>
            </a:r>
            <a:endParaRPr lang="en-IN" sz="1800" dirty="0"/>
          </a:p>
        </p:txBody>
      </p:sp>
    </p:spTree>
    <p:extLst>
      <p:ext uri="{BB962C8B-B14F-4D97-AF65-F5344CB8AC3E}">
        <p14:creationId xmlns:p14="http://schemas.microsoft.com/office/powerpoint/2010/main" val="8799004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1856095" y="1548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Title 1"/>
          <p:cNvSpPr>
            <a:spLocks noGrp="1"/>
          </p:cNvSpPr>
          <p:nvPr>
            <p:ph type="ctrTitle"/>
          </p:nvPr>
        </p:nvSpPr>
        <p:spPr>
          <a:xfrm>
            <a:off x="1042312" y="728868"/>
            <a:ext cx="8830557" cy="5645427"/>
          </a:xfrm>
        </p:spPr>
        <p:txBody>
          <a:bodyPr/>
          <a:lstStyle/>
          <a:p>
            <a:r>
              <a:rPr lang="en-US" sz="2400" b="1" dirty="0" smtClean="0"/>
              <a:t/>
            </a:r>
            <a:br>
              <a:rPr lang="en-US" sz="2400" b="1" dirty="0" smtClean="0"/>
            </a:br>
            <a:r>
              <a:rPr lang="en-US" sz="2400" b="1" dirty="0"/>
              <a:t/>
            </a:r>
            <a:br>
              <a:rPr lang="en-US" sz="2400" b="1" dirty="0"/>
            </a:br>
            <a:r>
              <a:rPr lang="en-US" sz="2400" b="1" dirty="0" smtClean="0"/>
              <a:t/>
            </a:r>
            <a:br>
              <a:rPr lang="en-US" sz="2400" b="1" dirty="0" smtClean="0"/>
            </a:br>
            <a:r>
              <a:rPr lang="en-US" sz="2400" b="1" dirty="0"/>
              <a:t/>
            </a:r>
            <a:br>
              <a:rPr lang="en-US" sz="2400" b="1" dirty="0"/>
            </a:br>
            <a:r>
              <a:rPr lang="en-US" sz="2400" b="1" dirty="0" smtClean="0"/>
              <a:t>Guardrails</a:t>
            </a:r>
            <a:r>
              <a:rPr lang="en-US" sz="1800" b="1" dirty="0" smtClean="0"/>
              <a:t>  </a:t>
            </a:r>
            <a:br>
              <a:rPr lang="en-US" sz="1800" b="1" dirty="0" smtClean="0"/>
            </a:br>
            <a:r>
              <a:rPr lang="en-US" sz="1800" b="1" dirty="0"/>
              <a:t/>
            </a:r>
            <a:br>
              <a:rPr lang="en-US" sz="1800" b="1" dirty="0"/>
            </a:br>
            <a:r>
              <a:rPr lang="en-US" sz="1800" dirty="0"/>
              <a:t>Tool-level restrictions: Agents receive only the MCP tools required for their permitted operations. The </a:t>
            </a:r>
            <a:r>
              <a:rPr lang="en-US" sz="1800" dirty="0" err="1"/>
              <a:t>resolve_schema_change</a:t>
            </a:r>
            <a:r>
              <a:rPr lang="en-US" sz="1800" dirty="0"/>
              <a:t> tool is excluded from the LLM-accessible tool </a:t>
            </a:r>
            <a:r>
              <a:rPr lang="en-US" sz="1800" dirty="0" smtClean="0"/>
              <a:t>list.</a:t>
            </a:r>
            <a:br>
              <a:rPr lang="en-US" sz="1800" dirty="0" smtClean="0"/>
            </a:br>
            <a:r>
              <a:rPr lang="en-US" sz="1800" dirty="0"/>
              <a:t/>
            </a:r>
            <a:br>
              <a:rPr lang="en-US" sz="1800" dirty="0"/>
            </a:br>
            <a:r>
              <a:rPr lang="en-US" sz="1800" dirty="0"/>
              <a:t>Role-specific instructions: Discovery, Impact, and Schema Drift agents have specialized prompts describing their responsibilities</a:t>
            </a:r>
            <a:r>
              <a:rPr lang="en-US" sz="1800" dirty="0" smtClean="0"/>
              <a:t>.</a:t>
            </a:r>
            <a:br>
              <a:rPr lang="en-US" sz="1800" dirty="0" smtClean="0"/>
            </a:br>
            <a:r>
              <a:rPr lang="en-US" sz="1800" dirty="0"/>
              <a:t/>
            </a:r>
            <a:br>
              <a:rPr lang="en-US" sz="1800" dirty="0"/>
            </a:br>
            <a:r>
              <a:rPr lang="en-US" sz="1800" dirty="0"/>
              <a:t>Human approval: Schema Drift can propose changes, but catalog modifications require a separate approval action. </a:t>
            </a:r>
            <a:br>
              <a:rPr lang="en-US" sz="1800" dirty="0"/>
            </a:br>
            <a:r>
              <a:rPr lang="en-US" sz="1800" dirty="0"/>
              <a:t>The current </a:t>
            </a:r>
            <a:r>
              <a:rPr lang="en-US" sz="1800" dirty="0" err="1"/>
              <a:t>Streamlit</a:t>
            </a:r>
            <a:r>
              <a:rPr lang="en-US" sz="1800" dirty="0"/>
              <a:t> reviewer-name field is demonstration-only and is not a production authentication mechanism</a:t>
            </a:r>
            <a:r>
              <a:rPr lang="en-US" sz="1800" dirty="0" smtClean="0"/>
              <a:t>.</a:t>
            </a:r>
            <a:br>
              <a:rPr lang="en-US" sz="1800" dirty="0" smtClean="0"/>
            </a:br>
            <a:r>
              <a:rPr lang="en-US" sz="1800" dirty="0"/>
              <a:t/>
            </a:r>
            <a:br>
              <a:rPr lang="en-US" sz="1800" dirty="0"/>
            </a:br>
            <a:r>
              <a:rPr lang="en-IN" sz="1800" dirty="0"/>
              <a:t>Forbidden SQL </a:t>
            </a:r>
            <a:r>
              <a:rPr lang="en-IN" sz="1800" dirty="0" smtClean="0"/>
              <a:t>operations: </a:t>
            </a:r>
            <a:r>
              <a:rPr lang="en-US" sz="1800" dirty="0"/>
              <a:t>Blocks DROP, DELETE, UPDATE, ALTER, TRUNCATE, and other restricted </a:t>
            </a:r>
            <a:r>
              <a:rPr lang="en-US" sz="1800" dirty="0" smtClean="0"/>
              <a:t>operations.</a:t>
            </a:r>
            <a:br>
              <a:rPr lang="en-US" sz="1800" dirty="0" smtClean="0"/>
            </a:br>
            <a:r>
              <a:rPr lang="en-US" sz="1800" dirty="0"/>
              <a:t/>
            </a:r>
            <a:br>
              <a:rPr lang="en-US" sz="1800" dirty="0"/>
            </a:br>
            <a:r>
              <a:rPr lang="en-US" sz="1800" dirty="0" smtClean="0"/>
              <a:t/>
            </a:r>
            <a:br>
              <a:rPr lang="en-US" sz="1800" dirty="0" smtClean="0"/>
            </a:br>
            <a:r>
              <a:rPr lang="en-US" sz="1800" dirty="0"/>
              <a:t/>
            </a:r>
            <a:br>
              <a:rPr lang="en-US" sz="1800" dirty="0"/>
            </a:br>
            <a:endParaRPr lang="en-IN" sz="1800" dirty="0"/>
          </a:p>
        </p:txBody>
      </p:sp>
    </p:spTree>
    <p:extLst>
      <p:ext uri="{BB962C8B-B14F-4D97-AF65-F5344CB8AC3E}">
        <p14:creationId xmlns:p14="http://schemas.microsoft.com/office/powerpoint/2010/main" val="32229580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3426" y="1310814"/>
            <a:ext cx="8865703" cy="2954655"/>
          </a:xfrm>
          <a:prstGeom prst="rect">
            <a:avLst/>
          </a:prstGeom>
        </p:spPr>
        <p:txBody>
          <a:bodyPr wrap="square">
            <a:spAutoFit/>
          </a:bodyPr>
          <a:lstStyle/>
          <a:p>
            <a:r>
              <a:rPr lang="en-US" sz="2400" b="1" dirty="0"/>
              <a:t>Future </a:t>
            </a:r>
            <a:r>
              <a:rPr lang="en-US" sz="2400" b="1" dirty="0" smtClean="0"/>
              <a:t>enhancement </a:t>
            </a:r>
          </a:p>
          <a:p>
            <a:endParaRPr lang="en-US" dirty="0"/>
          </a:p>
          <a:p>
            <a:pPr marL="285750" indent="-285750">
              <a:buFont typeface="Arial" panose="020B0604020202020204" pitchFamily="34" charset="0"/>
              <a:buChar char="•"/>
            </a:pPr>
            <a:r>
              <a:rPr lang="en-US" dirty="0" smtClean="0"/>
              <a:t>Add </a:t>
            </a:r>
            <a:r>
              <a:rPr lang="en-US" dirty="0"/>
              <a:t>persistent, user-scoped memory for preferences and previous decisions, with appropriate access controls</a:t>
            </a:r>
            <a:r>
              <a:rPr lang="en-US" dirty="0" smtClean="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Integrate the agents with Enterprise data catalog tool like </a:t>
            </a:r>
            <a:r>
              <a:rPr lang="en-US" dirty="0" err="1" smtClean="0"/>
              <a:t>Dataplex</a:t>
            </a:r>
            <a:r>
              <a:rPr lang="en-US" dirty="0" smtClean="0"/>
              <a:t> universal catalog on Google Cloud Platform.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Integrate with IAM roles for Authorization</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5710105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4712" y="2388705"/>
            <a:ext cx="8825658" cy="1467678"/>
          </a:xfrm>
        </p:spPr>
        <p:txBody>
          <a:bodyPr/>
          <a:lstStyle/>
          <a:p>
            <a:pPr algn="ctr"/>
            <a:r>
              <a:rPr lang="en-US" dirty="0" smtClean="0"/>
              <a:t>Q&amp;A</a:t>
            </a:r>
            <a:endParaRPr lang="en-IN" dirty="0"/>
          </a:p>
        </p:txBody>
      </p:sp>
    </p:spTree>
    <p:extLst>
      <p:ext uri="{BB962C8B-B14F-4D97-AF65-F5344CB8AC3E}">
        <p14:creationId xmlns:p14="http://schemas.microsoft.com/office/powerpoint/2010/main" val="2838422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4712" y="2388705"/>
            <a:ext cx="8825658" cy="1467678"/>
          </a:xfrm>
        </p:spPr>
        <p:txBody>
          <a:bodyPr/>
          <a:lstStyle/>
          <a:p>
            <a:pPr algn="ctr"/>
            <a:r>
              <a:rPr lang="en-US" dirty="0" smtClean="0"/>
              <a:t>Thank You</a:t>
            </a:r>
            <a:endParaRPr lang="en-IN" dirty="0"/>
          </a:p>
        </p:txBody>
      </p:sp>
    </p:spTree>
    <p:extLst>
      <p:ext uri="{BB962C8B-B14F-4D97-AF65-F5344CB8AC3E}">
        <p14:creationId xmlns:p14="http://schemas.microsoft.com/office/powerpoint/2010/main" val="560455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1124</TotalTime>
  <Words>174</Words>
  <Application>Microsoft Office PowerPoint</Application>
  <PresentationFormat>Widescreen</PresentationFormat>
  <Paragraphs>24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vt:lpstr>
      <vt:lpstr>Autonomous Data Warehouse agents</vt:lpstr>
      <vt:lpstr>Enterprises manage large volumes of data distributed across cloud platforms, databases, and business applications. Although enterprise data catalogs provide metadata management, data discovery, and lineage capabilities, several challenges remain:  Data discovery: Finding relevant, trusted data products requires knowledge of technical metadata and business terminology.  Impact analysis: Understanding the downstream consequences of schema changes can be time-consuming.  Schema drift: Changes between registered and incoming schemas require identification, assessment, and governance approval.  Disconnected workflows: Users often need to perform these activities separately and manually combine the results. </vt:lpstr>
      <vt:lpstr>Solution    Build an intelligent, agentic metadata assistant that automates these workflows, enables collaboration between specialized AI agents, and maintains human control over catalog modifications.</vt:lpstr>
      <vt:lpstr>The solution demonstrates how AI agents can augment existing enterprise catalogs such as Informatica EDC or Google Cloud's metadata catalog capabilities, rather than replace them.   Tech stack: LangGraph, MCP, ChromaDB</vt:lpstr>
      <vt:lpstr>Agent Orchestration    Agents do not communicate directly over a messaging protocol. Instead, the Coordinator passes their findings through LangGraph's shared execution state. The output of one agent becomes contextual input to the next. The Streamlit interface displays the execution plan, agent handoffs, MCP tool calls, and execution times.  Architectural distinction: The Coordinator uses deterministic keyword-based routing, while specialist agents use LLM-powered reasoning. This provides predictable orchestration and an auditable handoff sequence. </vt:lpstr>
      <vt:lpstr>Memory Management    Our implementation primarily uses short-term conversational memory and workflow-scoped shared state  Short-term memory - LangGraph InMemorySaver - Maintains conversational context for each specialist agent  Shared workflow state - LangGraph StateGraph - Transfers findings between agents during execution  Persistent user preferences and past decisions are not stored</vt:lpstr>
      <vt:lpstr>    Guardrails    Tool-level restrictions: Agents receive only the MCP tools required for their permitted operations. The resolve_schema_change tool is excluded from the LLM-accessible tool list.  Role-specific instructions: Discovery, Impact, and Schema Drift agents have specialized prompts describing their responsibilities.  Human approval: Schema Drift can propose changes, but catalog modifications require a separate approval action.  The current Streamlit reviewer-name field is demonstration-only and is not a production authentication mechanism.  Forbidden SQL operations: Blocks DROP, DELETE, UPDATE, ALTER, TRUNCATE, and other restricted operations.    </vt:lpstr>
      <vt:lpstr>PowerPoint Presentation</vt:lpstr>
      <vt:lpstr>Q&amp;A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Data Warehouse agents</dc:title>
  <dc:creator>HP LAPTOP</dc:creator>
  <cp:lastModifiedBy>HP LAPTOP</cp:lastModifiedBy>
  <cp:revision>21</cp:revision>
  <dcterms:created xsi:type="dcterms:W3CDTF">2026-10-22T13:10:40Z</dcterms:created>
  <dcterms:modified xsi:type="dcterms:W3CDTF">2026-10-23T19:55:04Z</dcterms:modified>
</cp:coreProperties>
</file>